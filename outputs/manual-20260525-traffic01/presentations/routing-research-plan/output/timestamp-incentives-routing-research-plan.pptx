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e24a49d7f84d79" /><Relationship Type="http://schemas.openxmlformats.org/officeDocument/2006/relationships/extended-properties" Target="/docProps/app.xml" Id="Rd0b3b136f1ad4c30" /><Relationship Type="http://schemas.openxmlformats.org/officeDocument/2006/relationships/officeDocument" Target="/ppt/presentation.xml" Id="R8d08deb921414d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e2ba881c5540c8"/>
  </p:sldMasterIdLst>
  <p:notesMasterIdLst>
    <p:notesMasterId xmlns:r="http://schemas.openxmlformats.org/officeDocument/2006/relationships" r:id="Rafe5e1a04b3d49a3"/>
  </p:notesMasterIdLst>
  <p:sldIdLst>
    <p:sldId xmlns:r="http://schemas.openxmlformats.org/officeDocument/2006/relationships" id="256" r:id="R2c1ae7d50b8a4084"/>
    <p:sldId xmlns:r="http://schemas.openxmlformats.org/officeDocument/2006/relationships" id="257" r:id="Rf11232db7a1b438f"/>
    <p:sldId xmlns:r="http://schemas.openxmlformats.org/officeDocument/2006/relationships" id="258" r:id="Rdda0f76e75b04a1c"/>
    <p:sldId xmlns:r="http://schemas.openxmlformats.org/officeDocument/2006/relationships" id="259" r:id="R2c08d9fa12104ee1"/>
    <p:sldId xmlns:r="http://schemas.openxmlformats.org/officeDocument/2006/relationships" id="260" r:id="R8f40bb9fde0c413d"/>
    <p:sldId xmlns:r="http://schemas.openxmlformats.org/officeDocument/2006/relationships" id="261" r:id="R7cbffb149c2843dc"/>
    <p:sldId xmlns:r="http://schemas.openxmlformats.org/officeDocument/2006/relationships" id="262" r:id="R86ab2ca9efc64e08"/>
    <p:sldId xmlns:r="http://schemas.openxmlformats.org/officeDocument/2006/relationships" id="263" r:id="R1df4c99b75084a4c"/>
    <p:sldId xmlns:r="http://schemas.openxmlformats.org/officeDocument/2006/relationships" id="264" r:id="Rfbe6f30560bb45c7"/>
    <p:sldId xmlns:r="http://schemas.openxmlformats.org/officeDocument/2006/relationships" id="265" r:id="R6987bf1f908e4bcf"/>
    <p:sldId xmlns:r="http://schemas.openxmlformats.org/officeDocument/2006/relationships" id="266" r:id="Rbab34888f74e4a55"/>
    <p:sldId xmlns:r="http://schemas.openxmlformats.org/officeDocument/2006/relationships" id="267" r:id="R8df95903d5fd47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2ba881c5540c8" /><Relationship Type="http://schemas.openxmlformats.org/officeDocument/2006/relationships/theme" Target="/ppt/theme/theme1.xml" Id="R640908a418974f7d" /><Relationship Type="http://schemas.openxmlformats.org/officeDocument/2006/relationships/notesMaster" Target="/ppt/notesMasters/notesMaster1.xml" Id="Rafe5e1a04b3d49a3" /><Relationship Type="http://schemas.openxmlformats.org/officeDocument/2006/relationships/presProps" Target="/ppt/presProps.xml" Id="Ra574463588c54543" /><Relationship Type="http://schemas.openxmlformats.org/officeDocument/2006/relationships/viewProps" Target="/ppt/viewProps.xml" Id="R71ad1c8749354502" /><Relationship Type="http://schemas.openxmlformats.org/officeDocument/2006/relationships/tableStyles" Target="/ppt/tableStyles.xml" Id="Rceb825b97f994411" /><Relationship Type="http://schemas.openxmlformats.org/officeDocument/2006/relationships/slide" Target="/ppt/slides/slide1.xml" Id="R2c1ae7d50b8a4084" /><Relationship Type="http://schemas.openxmlformats.org/officeDocument/2006/relationships/slide" Target="/ppt/slides/slide2.xml" Id="Rf11232db7a1b438f" /><Relationship Type="http://schemas.openxmlformats.org/officeDocument/2006/relationships/slide" Target="/ppt/slides/slide3.xml" Id="Rdda0f76e75b04a1c" /><Relationship Type="http://schemas.openxmlformats.org/officeDocument/2006/relationships/slide" Target="/ppt/slides/slide4.xml" Id="R2c08d9fa12104ee1" /><Relationship Type="http://schemas.openxmlformats.org/officeDocument/2006/relationships/slide" Target="/ppt/slides/slide5.xml" Id="R8f40bb9fde0c413d" /><Relationship Type="http://schemas.openxmlformats.org/officeDocument/2006/relationships/slide" Target="/ppt/slides/slide6.xml" Id="R7cbffb149c2843dc" /><Relationship Type="http://schemas.openxmlformats.org/officeDocument/2006/relationships/slide" Target="/ppt/slides/slide7.xml" Id="R86ab2ca9efc64e08" /><Relationship Type="http://schemas.openxmlformats.org/officeDocument/2006/relationships/slide" Target="/ppt/slides/slide8.xml" Id="R1df4c99b75084a4c" /><Relationship Type="http://schemas.openxmlformats.org/officeDocument/2006/relationships/slide" Target="/ppt/slides/slide9.xml" Id="Rfbe6f30560bb45c7" /><Relationship Type="http://schemas.openxmlformats.org/officeDocument/2006/relationships/slide" Target="/ppt/slides/slide10.xml" Id="R6987bf1f908e4bcf" /><Relationship Type="http://schemas.openxmlformats.org/officeDocument/2006/relationships/slide" Target="/ppt/slides/slide11.xml" Id="Rbab34888f74e4a55" /><Relationship Type="http://schemas.openxmlformats.org/officeDocument/2006/relationships/slide" Target="/ppt/slides/slide12.xml" Id="R8df95903d5fd47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e7fc361432643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7a7adb19d7452e" /><Relationship Type="http://schemas.openxmlformats.org/officeDocument/2006/relationships/notesMaster" Target="/ppt/notesMasters/notesMaster1.xml" Id="R4e1aee0ab34e49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ca50ff4627464e" /><Relationship Type="http://schemas.openxmlformats.org/officeDocument/2006/relationships/notesMaster" Target="/ppt/notesMasters/notesMaster1.xml" Id="Rd5251693e637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88c36e3f3c49a9" /><Relationship Type="http://schemas.openxmlformats.org/officeDocument/2006/relationships/notesMaster" Target="/ppt/notesMasters/notesMaster1.xml" Id="Rffc22f7e7c10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8319fcff7c4217" /><Relationship Type="http://schemas.openxmlformats.org/officeDocument/2006/relationships/notesMaster" Target="/ppt/notesMasters/notesMaster1.xml" Id="Ra92421ff16ea47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e1ee45f3424f23" /><Relationship Type="http://schemas.openxmlformats.org/officeDocument/2006/relationships/notesMaster" Target="/ppt/notesMasters/notesMaster1.xml" Id="R3d7d8c7928c348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191806b7c642ed" /><Relationship Type="http://schemas.openxmlformats.org/officeDocument/2006/relationships/notesMaster" Target="/ppt/notesMasters/notesMaster1.xml" Id="R784ec6df7a2445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a7913050fc4383" /><Relationship Type="http://schemas.openxmlformats.org/officeDocument/2006/relationships/notesMaster" Target="/ppt/notesMasters/notesMaster1.xml" Id="Ra6d7f9a1497841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d4dc89535947b3" /><Relationship Type="http://schemas.openxmlformats.org/officeDocument/2006/relationships/notesMaster" Target="/ppt/notesMasters/notesMaster1.xml" Id="Rd60df50b27b340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180db271ba48d5" /><Relationship Type="http://schemas.openxmlformats.org/officeDocument/2006/relationships/notesMaster" Target="/ppt/notesMasters/notesMaster1.xml" Id="Rd4665a52796f4b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03c8fc40f443c5" /><Relationship Type="http://schemas.openxmlformats.org/officeDocument/2006/relationships/notesMaster" Target="/ppt/notesMasters/notesMaster1.xml" Id="R175b0988fe8844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c58e0b934c4f12" /><Relationship Type="http://schemas.openxmlformats.org/officeDocument/2006/relationships/notesMaster" Target="/ppt/notesMasters/notesMaster1.xml" Id="R5c2c4fdbe54d4b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a304cc76ef496f" /><Relationship Type="http://schemas.openxmlformats.org/officeDocument/2006/relationships/notesMaster" Target="/ppt/notesMasters/notesMaster1.xml" Id="R53fc77ceffaa4f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a882c448640d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ac60334b7c0432d" /><Relationship Type="http://schemas.openxmlformats.org/officeDocument/2006/relationships/slideLayout" Target="/ppt/slideLayouts/slideLayout2.xml" Id="R634c5a2ce05f4f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4c5a2ce05f4f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e10dd1512642b8" /><Relationship Type="http://schemas.openxmlformats.org/officeDocument/2006/relationships/notesSlide" Target="/ppt/notesSlides/notesSlide1.xml" Id="Re940af4ffc7f4e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7965b6cbc4415" /><Relationship Type="http://schemas.openxmlformats.org/officeDocument/2006/relationships/notesSlide" Target="/ppt/notesSlides/notesSlide2.xml" Id="R66eec746b6de45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430374212149fa" /><Relationship Type="http://schemas.openxmlformats.org/officeDocument/2006/relationships/notesSlide" Target="/ppt/notesSlides/notesSlide3.xml" Id="R77f88351a64447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ad90b4dc3a423d" /><Relationship Type="http://schemas.openxmlformats.org/officeDocument/2006/relationships/notesSlide" Target="/ppt/notesSlides/notesSlide4.xml" Id="R69805e6cffa84f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2dda8bb6a4e15" /><Relationship Type="http://schemas.openxmlformats.org/officeDocument/2006/relationships/notesSlide" Target="/ppt/notesSlides/notesSlide5.xml" Id="Rccfd2f41a95a41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5560722454274" /><Relationship Type="http://schemas.openxmlformats.org/officeDocument/2006/relationships/notesSlide" Target="/ppt/notesSlides/notesSlide6.xml" Id="Ra1ba60dc78f945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5a3acfcbc343c3" /><Relationship Type="http://schemas.openxmlformats.org/officeDocument/2006/relationships/notesSlide" Target="/ppt/notesSlides/notesSlide7.xml" Id="R8047da27ef3449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f16b9fa8b940e0" /><Relationship Type="http://schemas.openxmlformats.org/officeDocument/2006/relationships/notesSlide" Target="/ppt/notesSlides/notesSlide8.xml" Id="Rb937d6dd52b64c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c829d7a2944c0c" /><Relationship Type="http://schemas.openxmlformats.org/officeDocument/2006/relationships/notesSlide" Target="/ppt/notesSlides/notesSlide9.xml" Id="R197a83f93dde43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c40f78198b4d2c" /><Relationship Type="http://schemas.openxmlformats.org/officeDocument/2006/relationships/notesSlide" Target="/ppt/notesSlides/notesSlide10.xml" Id="Rd9838fc2e0204e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fa984a82f34fb4" /><Relationship Type="http://schemas.openxmlformats.org/officeDocument/2006/relationships/notesSlide" Target="/ppt/notesSlides/notesSlide11.xml" Id="Rae3c9028e46643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ea5ae1561843dd" /><Relationship Type="http://schemas.openxmlformats.org/officeDocument/2006/relationships/notesSlide" Target="/ppt/notesSlides/notesSlide12.xml" Id="R8694e57bcebf4b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F9428-0666-49F0-A881-69707D68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9478A-F816-4F5D-BD29-3E286B59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BAFE7-C3E2-42C7-964D-B57F972B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EBEE1-84C7-4CC2-8E93-244D9F06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RESEARCH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0C13D-27D1-41D4-A8BA-A5E1A478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Selfish routing, autonomous intersections, and non-monetary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4F692-D132-4030-904A-7949A7DA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609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Timestamp incentives turn intersections into a non-monetary routing lever.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7D0B6-4358-47B0-8CDA-8436C3C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24050"/>
            <a:ext cx="3028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A research-program deck based on Saltan's thesis summary and the proposed direction: robust, fair, mixed-autonomy timestamp incentives for selfish routing.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FA3D2-7F5E-4907-9087-5439D173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A6445-8AD1-4768-92AB-406BEC77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32624-728B-451A-B007-3912E59D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68.2%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A8B09-1DD8-47FD-B2EA-575B383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THESIS GAP CLOSURE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76C50-4104-4415-AD68-DDC98C81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Sioux Falls, high-intervention bounds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5E7D6-80A1-4A89-B904-5909B5DB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11A82-B26F-4CA5-8E24-4B83C857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86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71%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56F6F-08FD-496A-BA08-989C6F84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768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LATER ARXIV 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BD74D-9B3D-43EA-94EF-34B1401C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48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reported upper efficiency-gap reduction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37E7A-9479-4856-A0BC-2F5C768B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244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DB059-28C3-4772-9216-E087DCB0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86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41E65-20F4-4D5E-8FA3-A103DDA2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RESEARCH WORKSTREAMS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FAE28-1F76-4EB3-BA5F-9D192FF0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48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dynamic, mixed, fair, private, scalable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223C1-A98D-4F75-9A0D-69C6E4AD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5E100-B412-4D8C-A6DD-15DFD3C8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86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1B404-BFBF-45E2-8BB7-3CD4B5EA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768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EXECUTION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F7827-C5E1-4262-8636-7F4D26C3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48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from reproduction to first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8AD16-2516-4565-841D-6B4CA9F7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CC7C51-7542-4B44-8A0D-63B6DF4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sections 1, 8, 10, 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666CE-87FD-4688-A0B2-FE7E986E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719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6CF410-C2D9-45E1-80DB-04580F9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4B06C-A3E8-4688-B8AB-557515D9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F3DF92C5-22BF-4B97-8859-E859297B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5C6E6578-F964-4C1B-9FFB-8A33FD6E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CORE MOVE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F6F30-9F76-4E3C-97AD-4D18C219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The thesis replaces tolls with controlled waiting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D64C6-43C6-4154-8C15-C67701D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847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Drivers still choose selfishly. The planner changes the waiting-time signal they experience at intersections, making socially helpful routes feel cheaper and overused routes feel more expensive.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6BAE6-5F3A-4649-938C-0C871588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3924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47114-7B0B-4535-85E5-B7AD83CD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3924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92474-B25F-4F03-9D37-3A5F19B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EE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EEF2"/>
                </a:solidFill>
                <a:latin typeface="Aptos"/>
                <a:ea typeface="Aptos"/>
                <a:cs typeface="Aptos"/>
              </a:rPr>
              <a:t>MONETARY TOLL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E255E-A9A7-44B9-BF58-0445DA46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Pay more to use this route.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34E78-412F-4BA2-9152-8E7AA454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Hard to administer, politically fragile, and often equity-sensitive.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0F2D2-8FDD-45C1-9DC9-C3762564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3924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F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3A0E7-BB2E-426E-8747-2CEE2D8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3924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4EE70-4E71-471E-BAC2-59D18D0F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86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TIMESTAMP INCENTIVE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AA691-12D5-4C2C-B784-24B6310E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76650"/>
            <a:ext cx="3162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Wait less on helpful routes.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E83F7-F677-4C74-84F8-0758B7DB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00550"/>
            <a:ext cx="312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Uses a capability autonomous intersections already need: ordering vehicle requests safely.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3BA7A-3E90-4E23-86C4-812339E2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129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7837A-5920-431A-AC51-0E4607E8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99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same incentive logic,</a:t>
            </a:r>
          </a:p>
          <a:p xmlns:a="http://schemas.openxmlformats.org/drawingml/2006/main">
            <a:pPr algn="ctr">
              <a:defRPr sz="825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different currency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A5F05-007E-4459-A4DA-62B01D9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1FDC2-C1A0-48D5-84D3-D588810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sections 1-2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9A9EC-96CB-4F08-B912-71B590B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91760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D1840C-1DBE-45EF-89A3-5A2266D9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C6C1C-6ACC-4A9F-B66B-4DD4A58B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B6F8D6B7-360C-4698-AF65-146C15D0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2E63D3FC-A78C-4743-AE6F-4B68A7A6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MECHANISM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556AE-A004-4A04-88BA-838D8493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The mechanism changes perceived path costs, not driver objectives.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25B11-08BC-4936-B647-1F8E1A21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906">
            <a:solidFill>
              <a:srgbClr val="D08B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FD6CB-3103-49F2-B097-50A6B739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8B3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08B32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FBFF9-E491-4D81-920F-355D1B88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Drivers choose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9DC95-9630-498E-8CDB-C12C7ECC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5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selfish travel-time minimization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7FBE6-D277-48DD-85A5-FAA879A8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71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A226F-9BBB-43D7-BB89-DA137858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765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8B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8B3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43A84-229E-4558-9478-54BFAA68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906">
            <a:solidFill>
              <a:srgbClr val="395B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3739D-EDA5-4004-8153-598F287B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290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5B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95B8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F6AB1-9600-4237-8D39-A8EB4F5C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4810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User equilibrium emerges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A2D99-8292-4EA8-8EF4-9A7BC14A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862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5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Wardrop behavior can be inefficient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A7C9C-F44C-4BAB-9E68-5D69F261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10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BC381-72D6-4D2B-A6A8-610CCDDF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148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5B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95B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403FE-A914-4B80-BFEC-8B1EF0FB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906">
            <a:solidFill>
              <a:srgbClr val="1F8A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D6C8F-502F-439D-9A3A-4B7E9ED7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F8A83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92C23-ABB5-4DF9-80FF-E553BFA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0985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Intersections observe requests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9E4CC-F292-4867-A80C-30682B5A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5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timestamps, movement, queue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200E3-C28F-45B4-A414-4D462F59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71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F5269-3049-4DBB-BDA7-37302ED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765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8A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8A8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5141C-8D91-44C1-801F-1B2B0748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7B4E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082AA-8583-42AA-93FE-B9B57149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01751-02E6-4261-A690-2877F5F1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Planner offsets timestamps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0F26D-137F-4A4C-88D5-E0DE34B6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53" b="0">
                <a:solidFill>
                  <a:srgbClr val="E8EEF2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E8EEF2"/>
                </a:solidFill>
                <a:latin typeface="Aptos"/>
                <a:ea typeface="Aptos"/>
                <a:cs typeface="Aptos"/>
              </a:rPr>
              <a:t>advance or delay effective request 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CECF1-5BF8-4A80-BE65-8D5CDFD2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1D2A4E-2478-48E1-81A6-C69128BB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1148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4E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4E7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99CD1-1255-4144-BE92-6EB42937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906">
            <a:solidFill>
              <a:srgbClr val="5E8C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6DFC3-47E0-468B-85C5-3149336F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8C5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5E8C5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9B9681-E3AD-4A05-9635-7131C44E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Path costs shift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A7D683-0734-4D85-8753-F9E2729B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48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5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node costs become route-dependent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89265-645C-448F-B3DC-118AD583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38F949-6C8E-432D-AE66-BFF18598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765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8C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8C5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75E70B-0AB3-4A13-BF66-6D76A01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906">
            <a:solidFill>
              <a:srgbClr val="B65A4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89D134-D903-4838-9BC1-D365291E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290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A4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65A46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90D236-EB7D-48FC-8B52-ED2271B6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4810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Flow redistributes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CEB82A-66FE-4ED2-A7B7-EA929002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862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5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total system travel time decreases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83EA8D-B059-4F7D-B390-A3C7733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296285-32B4-4A25-A308-CDC7BD35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483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The intervention is local in implementation but network-level in effect: it modifies route costs at conflict points where queues already create delay.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16FA1E-4762-4D83-B09E-031FFE7A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C4E8CC-88C4-41D5-999B-961CEA0A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 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6888E4-9619-4CAB-96C5-071730B4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67495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D5DC11-FC6A-431F-A422-D1E8735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FABC0-96D0-4EDC-B736-491FFEF5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1DFA5490-E6FE-48F3-838B-16AACDC7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233FCBC2-170F-41BE-AABE-FE810EC1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TWO MECHANISMS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77DEC-9F61-4729-86D1-DF45F969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SPBS proves the idea; timestamp offsets make it network-scale.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F96E1-BAEF-4333-BC43-0B95375A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4629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08B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F6738-FBE3-4E78-901E-DC8511FD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462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3A649-ADB1-4575-B0E5-D313FC2A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MECHANISM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B6E1A-E5EF-45FE-8D75-D54BB8DA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Strategic Priority-Based Scheduling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8AB80-DBCE-4602-A443-89A0A174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93E54-BC77-4C96-A1DC-7864F6ED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956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Introduced on Pigou-type networks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3C988-8DD0-43A7-9552-6AC93FE0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25A48-964B-4894-972D-BFD61EC2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623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Assigns route-dependent priority scores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A4554-6560-47E0-BD1B-EC638FE9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085FD-419B-4B2D-81CA-2E6F972B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Higher priority for socially preferred routes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8A189-5E9A-41B3-9854-155C48B7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34DBF-9AE7-474D-A54A-EA5E76D8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SUMO simulation supports qualitative effect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9AB3F-D15F-422A-9E41-310DAC77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417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4FB1F-4470-460D-AA1D-0B4364FD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7"/>
                </a:solidFill>
                <a:latin typeface="Aptos Mono"/>
                <a:ea typeface="Aptos Mono"/>
                <a:cs typeface="Aptos Mono"/>
              </a:rPr>
              <a:t>upper node delay = w - p</a:t>
            </a:r>
          </a:p>
          <a:p xmlns:a="http://schemas.openxmlformats.org/drawingml/2006/main">
            <a:pPr algn="ctr">
              <a:defRPr sz="900" b="0">
                <a:solidFill>
                  <a:srgbClr val="1720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7"/>
                </a:solidFill>
                <a:latin typeface="Aptos Mono"/>
                <a:ea typeface="Aptos Mono"/>
                <a:cs typeface="Aptos Mono"/>
              </a:rPr>
              <a:t>lower node delay = w +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77EC8-5211-4F5E-A487-2A687246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4629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1F8A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8C53D-39EC-4217-AE71-8E410522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462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20C95-B705-4402-9CA1-AF05FFAD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764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MECHANISM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08F63-D4E7-4597-B46D-78EDD6F5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Timestamp-Offset Incentives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BEAEE-1538-47B6-90AD-8CE33787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4249A-1DF1-44C7-AAC6-F0809FA6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956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Generalizes to path-dependent node costs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A9286-EDF4-49B6-B81C-F66C4423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13FA7-9933-4ED2-8EAC-B5074791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623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Advances or delays effective request timestamps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BC52CE-0863-41E8-9718-A87D008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79366E-CE72-48F5-95DF-2EAECEE4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290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Keeps local safety scheduling intact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EA50F-3D30-4255-B17F-81C2D5E7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5132D-2534-4ED1-AC80-39083860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957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Supports network-level bilevel optimization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C371C-E870-4CF4-B540-A1420966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86300"/>
            <a:ext cx="417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040CB7-B72F-48F5-A9E4-BB3A1B30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91075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7"/>
                </a:solidFill>
                <a:latin typeface="Aptos Mono"/>
                <a:ea typeface="Aptos Mono"/>
                <a:cs typeface="Aptos Mono"/>
              </a:rPr>
              <a:t>c_v^p(f_v, u_v^p) = c_v(f_v) + u_v^p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D6F74C-DE7A-4FB4-A3A6-32492DEF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9BDEE7-F7A0-4DBC-A16C-B1529B65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EBEF3A-9BE0-4D80-9E3B-62AC8E39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3560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ACF95-EA1D-49DA-AEBF-82F1C6F6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D3FD1-3A23-4E26-B530-4ED54189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58096B9E-5795-4E3D-825A-29C9C8AB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CEA0C27E-786A-4DBD-BB7B-72017637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WHY IT REMAINS ANALYZABLE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362DE-408F-441E-A1EA-3BF5EE56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Additive node costs preserve a tractable equilibrium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18FAB-00E5-4CB7-A876-6DF5AE2F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953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22554-83F3-42CD-BA08-FC50C0A6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438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Path cost = link travel time + node delay + timestamp offset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A0ED9-E162-4B9F-8F63-FBB8A05D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E8EEF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E8EEF2"/>
                </a:solidFill>
                <a:latin typeface="Aptos"/>
                <a:ea typeface="Aptos"/>
                <a:cs typeface="Aptos"/>
              </a:rPr>
              <a:t>offsets enter as structured, path-dependent node costs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96703-04D9-4FEE-A9BA-421129FE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95B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EDA6E-4D0E-4D51-8954-468E454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290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95B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95B85"/>
                </a:solidFill>
                <a:latin typeface="Aptos"/>
                <a:ea typeface="Aptos"/>
                <a:cs typeface="Aptos"/>
              </a:rPr>
              <a:t>Lower 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8912B-480D-4BEB-B823-C456848B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7"/>
                </a:solidFill>
                <a:latin typeface="Aptos"/>
                <a:ea typeface="Aptos"/>
                <a:cs typeface="Aptos"/>
              </a:rPr>
              <a:t>Wardrop equilibrium under modified path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9AAA5-DD46-48C0-BA9C-C04A5125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F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79DF5-0AAF-41CF-A6F2-C41661C2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386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8A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8A83"/>
                </a:solidFill>
                <a:latin typeface="Aptos"/>
                <a:ea typeface="Aptos"/>
                <a:cs typeface="Aptos"/>
              </a:rPr>
              <a:t>Potential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D2AD8-D63F-4563-A8F7-64086939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01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7"/>
                </a:solidFill>
                <a:latin typeface="Aptos"/>
                <a:ea typeface="Aptos"/>
                <a:cs typeface="Aptos"/>
              </a:rPr>
              <a:t>equilibrium exists; social cost is essentially unique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9C896-4709-44B3-A1FF-24D4ED20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08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0B27A-FBA4-4A4A-B2EA-0C22156E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482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B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8B32"/>
                </a:solidFill>
                <a:latin typeface="Aptos"/>
                <a:ea typeface="Aptos"/>
                <a:cs typeface="Aptos"/>
              </a:rPr>
              <a:t>Upper level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E74E3-4EF6-4D46-A9D0-E2D0EA1A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7"/>
                </a:solidFill>
                <a:latin typeface="Aptos"/>
                <a:ea typeface="Aptos"/>
                <a:cs typeface="Aptos"/>
              </a:rPr>
              <a:t>planner chooses bounded offsets to reduce social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72EC6-341B-4D49-BBFB-A028907B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386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702FE-D50A-41EA-8BF5-9FDE2BB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193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Bilevel 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41026-40C3-4C93-B320-424FDEB6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08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08B32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EE298-BC76-4D85-82AF-1C4B49EC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146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Choose incentives 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3C03F-7A26-48ED-9185-87D18739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179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8E9DE-94AD-4688-8A8B-13E134C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anticipate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641E8-E4CC-4952-9D9E-9012335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433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8A8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F8A8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577E9-F837-47DB-8983-0179D8B9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909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Compute equilibrium f(u)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54F118-E71E-4B4D-8C9A-106BC45C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179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5B4362-5099-41FB-8869-AA433167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evaluate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FF95D3-C75C-4C4C-910A-CD5D4555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196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5B8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95B8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E73B1-64FC-4F51-BCF0-CD129C2A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67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Minimize social cost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958E8-EEAF-477A-9515-0E4FFBF8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1FF02-6D97-454C-A058-A2A64831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sections 3 and 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95AC9-1E0B-4A61-8F40-C9EAE59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25697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8D865F-0DD9-444E-AECA-2738BBE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02A19-B177-435E-A506-A30960FD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11613BB3-E256-4274-9AD1-CAEC027B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DD7929E1-BD61-4B9D-B0B4-792180B3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BENCHMARK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AC3FA-1784-4502-BA0B-BCB1F092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Sioux Falls evidence shows the idea has real network leverage.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AAFCA-A5D8-44AC-A19C-031E27AC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User equilibrium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EC44E-E049-4B55-9DD9-998F2E97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14490-60D5-46DA-A7C7-1F753201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570998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AD20-B184-4719-816A-5DE3F72C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8.04M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2EB6E-4EFD-4B2F-B7AD-55304163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003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0533B-AE4A-4FE7-B2E9-88C8391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Timestamp incentives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34C4A-2C0D-4C67-BCDB-5328FFAC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A62BC-3796-4624-94B5-BDE0CEE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235117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7413F-9145-473A-A76E-3B150A1C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7.84M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A4507-FFC6-41AA-947B-11C85CC1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432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high-intervention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64706-B43E-4ECE-8282-9A5B65AC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System optimum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74310-AED7-47F1-92EB-4B491A5A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338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6EB27-248B-4195-A2E9-58DE836D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33850"/>
            <a:ext cx="83970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897F7-774C-4A5E-90AC-37AD1287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767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7.75M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9174D-587E-4325-94F7-CCE51B47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862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17941-BEFB-4F05-85E2-9A7E9FA8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2419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81B4B-CEE1-4577-B4AB-653734DB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435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68.2%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2A6A77-D45D-400D-BED8-4559B025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387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8EE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8EEF2"/>
                </a:solidFill>
                <a:latin typeface="Aptos"/>
                <a:ea typeface="Aptos"/>
                <a:cs typeface="Aptos"/>
              </a:rPr>
              <a:t>thesis-reported gap closure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5D047-B346-4B0B-B07F-FA399E4C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29200"/>
            <a:ext cx="2419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1F8A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3A7CD-979A-44CC-BCF6-D7B84177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435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8A8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8A83"/>
                </a:solidFill>
                <a:latin typeface="Aptos Display"/>
                <a:ea typeface="Aptos Display"/>
                <a:cs typeface="Aptos Display"/>
              </a:rPr>
              <a:t>71%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09B26-06FD-4014-986E-CD65AC80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387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later arXiv v2 reported upper reduction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B087F-A593-4BE8-B848-9CE4FF63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01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The slide does not claim deployment readiness. It claims enough leverage to justify testing robustness, fairness, partial adoption, privacy, and scalable solvers.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4D52E-2A0C-4D77-8EA0-8810762B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F53535-7545-4500-9805-18A7351D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sections 4 and 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52EF70-4BFA-4158-BB81-5EF735D1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89193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FB055A-C504-4C2A-840F-36036DF4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F5841-23FA-45E5-A161-829C04B5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F85EC14A-928D-4429-80C9-B2FB17E8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F5E61669-A675-4F19-A21F-8F5A3AD7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OPEN GAPS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8C5F5-0391-4584-A5D5-7B060917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The next paper relaxes the clean assumptions without losing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D79C2-2726-4C98-A04F-4FC34C5B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3009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6B382-8ECC-4AA5-A5F4-EDDA9EDD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1D63A-D24A-4FEE-8D5A-FA3045A6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Static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45579-3BA1-4858-862F-52D0E208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make incentives online and stable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2235D-DFE9-4CC2-A1F9-D67CC8DC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3009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B277C-6807-4F5B-A87E-D197725F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C13C8-FFAB-4364-84A9-D3EE969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Full route observability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9954E-F51C-4BD0-BCED-73443D89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work with prefixes or privacy-noised beliefs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ED7D3-EFA1-4795-9105-58B210D9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38400"/>
            <a:ext cx="3009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79CCC-878F-4D19-9101-37E89212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384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FFAFC-777E-4C52-AD5B-CA48D352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Separable node costs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28EC7-E099-4B4A-8A92-93A265E9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account for spillback and lane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BD701-EE5F-43B0-9D7F-EE920E78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3009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65A04-0EF1-4B2D-A3B3-6C1443C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A31EB-8CB2-4619-92FD-9E19C635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High V2I capability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5CFAC-7B3C-4A16-A27C-6E2F133E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estimate penetration thresholds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F85F3-0211-4994-9315-C002077E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3009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77A1B-27D8-4AF4-B9E4-EED96F21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9DAC5-ADD3-45BB-8D10-A9DBC1E1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Fairness under-modeled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01E52-05CF-4610-A9BD-93782E65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bound repeated delay burdens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F368B-FD9B-44E3-BD8D-3050A7DA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3009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E82C8-E4B0-4A12-B937-D0FB7B28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08CED-E7D9-4006-8747-ED2E6449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33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Costly bilevel 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DD88BB-A10A-48AF-9FD3-550961D6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differentiate, decompose, or learn surrogates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7FD70-3477-47F7-B053-953B3AFE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7BE122-EEF2-4390-8353-217CF271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 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267FAB-B1D7-4BC8-B287-2EC93D82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1807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C42C8-F7CE-49CD-9FE7-208C69BE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5651B-4594-49A7-B38C-8188212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BFABB449-7D4C-405C-B88D-EC1481DE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7912BD4A-8749-4C76-80D9-0FC61F3F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RESEARCH PROGRAM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EC3CD-35C1-4247-92B1-4E3A4009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Five workstreams turn the thesis into a publishable agenda.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D9DE9-5BD7-4A97-987A-BBA869E2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BA237-1EAB-4A13-9213-60B69932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Robust, fair,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mixed-autonomy incentives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923D6-8D28-4AE3-BBAC-8810D4BC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395B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17C21-41D3-4FF2-87DF-9421AB97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5B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95B85"/>
                </a:solidFill>
                <a:latin typeface="Aptos"/>
                <a:ea typeface="Aptos"/>
                <a:cs typeface="Aptos"/>
              </a:rPr>
              <a:t>RQ1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3F871-8642-4FEC-85EF-B6F4974D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Dynamic online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1ED22-AE76-4692-B96D-D3980CC2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193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rolling horizons, incidents, prediction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D0555-D4DF-4D57-A46B-275462D1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1F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26884-62D7-4755-B9B6-493552BB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8A83"/>
                </a:solidFill>
                <a:latin typeface="Aptos"/>
                <a:ea typeface="Aptos"/>
                <a:cs typeface="Aptos"/>
              </a:rPr>
              <a:t>RQ2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9A23C-9474-4683-9556-258CD76E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Mixed autonomy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111D8-E134-4FB1-9B7D-8B7DD657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CAV penetration, compliance, indirect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EEC42-E83D-4752-BA4B-63D16709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D08B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62666-2789-4DAF-9092-FCB67C23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8B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08B32"/>
                </a:solidFill>
                <a:latin typeface="Aptos"/>
                <a:ea typeface="Aptos"/>
                <a:cs typeface="Aptos"/>
              </a:rPr>
              <a:t>RQ3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C9747-5C0B-4F17-8A75-A9DBF06F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Fairness-aware delay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88C13-A63C-4EFF-8E25-6E405582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OD budgets, max-min welfare, equity curves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48037-4F7C-44B2-8C37-92EC171C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7B4E7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6D51C-BB8F-4BEC-8F60-8B82A7C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4E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4E70"/>
                </a:solidFill>
                <a:latin typeface="Aptos"/>
                <a:ea typeface="Aptos"/>
                <a:cs typeface="Aptos"/>
              </a:rPr>
              <a:t>RQ4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D2285-6421-4539-8EB4-7F6D19C8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81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Privacy and misreporting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44723-ABF9-4B9C-A694-79ED199D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96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prefix beliefs, audits, spoofing resistance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3456AA-095E-40E5-BB32-F36B0B37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340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5E8C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5F293-DF84-4506-B16F-08A22250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05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8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8C5A"/>
                </a:solidFill>
                <a:latin typeface="Aptos"/>
                <a:ea typeface="Aptos"/>
                <a:cs typeface="Aptos"/>
              </a:rPr>
              <a:t>RQ5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0ADE49-E6BB-4991-A4EA-02D491F4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6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Scalable bilevel algorithms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ECAA5-07EC-425E-8C3E-7AC43355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054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implicit gradients, surrogates, decomposition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91E250-5F5B-4128-9C11-33941FE9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908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6D19A2-01AE-4443-B6F2-0C6EB235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8290F3-E7A5-4391-908A-B93FF408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76379F-138A-49C2-A524-CCEEC2E9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25F6C5-599D-41F6-9DBC-A4A14FB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2910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DCBB5C-94EA-48EC-8F03-DB161238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34EFA0-872C-4778-A2A1-314F0B7D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 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91464C-7437-4546-9217-BD387FFC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54595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8D165-0B12-48F5-BC31-A9AAC447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8C427-0DF0-4DE5-9F3E-D53D5F01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7AA1E238-D9A3-48F5-BC81-55A34727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F69412C0-E303-4135-908A-B8083B0E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FIRST PAPER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02058-896C-41EA-8034-20BE4BAC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239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Stay focused: mixed autonomy plus fairness is the first publishable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D62CC-E47D-4430-BCE1-624CEB9A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8A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8A83"/>
                </a:solidFill>
                <a:latin typeface="Aptos"/>
                <a:ea typeface="Aptos"/>
                <a:cs typeface="Aptos"/>
              </a:rPr>
              <a:t>INCLUDE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062E2-4480-44C7-9BD6-858C5B9B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336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17E50-49F6-4441-B46A-52FCD7CF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heterogeneous controllability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C36F6-C9BD-4E24-BE10-E7A52920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connected compliant, strategic,</a:t>
            </a:r>
          </a:p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and non-connected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E3908-AF8C-4146-8CCD-7D7697B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8A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8A83"/>
                </a:solidFill>
                <a:latin typeface="Aptos"/>
                <a:ea typeface="Aptos"/>
                <a:cs typeface="Aptos"/>
              </a:rPr>
              <a:t>INCLUDE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47D59-F443-40B9-B8E6-11C833E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766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69727-FC86-4F75-85AC-FD4EFFE0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861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fairness-constrained timestamp bounds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1B095-38A8-4412-ACFD-4D3B0F2C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OD delay budgets, worst-case burdens,</a:t>
            </a:r>
          </a:p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efficiency-equity curves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74918-2F76-4E99-AD18-A237C857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DEFER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B6A06-48B0-46A8-81AE-02F34027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9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B1F41-8155-47E0-95BC-1D2E5228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dynamic spillback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F1786-E8A1-4D5D-BAB1-2D6568A4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save receding-horizon and capacity</a:t>
            </a:r>
          </a:p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coupling for paper 2 or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AC66D-8693-4BD7-BBC5-97A50E4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DEFER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4E0D0-30E4-4B30-99B4-EA631745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62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DCB01-D84F-473E-BC9B-E581C385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privacy and strategic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6F031-C242-4BD9-B69D-F0F2C55A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route-prefix and misreporting protocols</a:t>
            </a:r>
          </a:p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can become paper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D41E1-5E9C-4D1D-B5A7-CA78CE4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0383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53B3B-EC11-4B58-B7AD-20FE00DF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8B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8B32"/>
                </a:solidFill>
                <a:latin typeface="Aptos"/>
                <a:ea typeface="Aptos"/>
                <a:cs typeface="Aptos"/>
              </a:rPr>
              <a:t>Core claim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6A1D30-702D-4C76-9C53-1F6A5EDE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1428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Bounded timestamp incentives can reduce routing inefficiency with partial connected-vehicle penetration, if fairness constraints are built into the planner.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76E83-22D3-418B-9E56-FB03DD9A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0055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95B8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524341-E083-4CAB-A2B0-2CA16472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672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95B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395B85"/>
                </a:solidFill>
                <a:latin typeface="Aptos"/>
                <a:ea typeface="Aptos"/>
                <a:cs typeface="Aptos"/>
              </a:rPr>
              <a:t>Pigou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BE325-C90F-4CBE-91BD-3215A907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00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95B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2A2F81-514D-49C0-BBB3-69F31C2B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67225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95B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395B85"/>
                </a:solidFill>
                <a:latin typeface="Aptos"/>
                <a:ea typeface="Aptos"/>
                <a:cs typeface="Aptos"/>
              </a:rPr>
              <a:t>Braess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3A9C51-C8E9-482D-A97D-B2704136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95B8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9E7BE5-9CFF-4C0D-9DEC-E2D66D43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48225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95B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395B85"/>
                </a:solidFill>
                <a:latin typeface="Aptos"/>
                <a:ea typeface="Aptos"/>
                <a:cs typeface="Aptos"/>
              </a:rPr>
              <a:t>Sioux Falls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C84BDF-89BB-4C8A-A10C-CB1A0681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24A9D7-21FB-4B3B-8CE0-412C5C73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 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833CB1-0129-4F87-B25F-1F132318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18119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AEDBA-8975-4446-AB7E-C8599F8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3EBFD-3A4A-4AF2-8A74-E59A6765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61BA44A8-10B1-473F-9BB9-298CF876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5C379896-FA4F-4B81-9430-30DD29EC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METHOD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227D9-555C-43C4-A5EE-B17C2E4F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Pair equilibrium theory with simulation-backed calibration.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362D4-A52C-4080-9846-DEC0FB3F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8058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395B8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8E79C-E7FF-4B1D-B197-AEAF050A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574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44830-4EAF-48EE-8941-702BEB8D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288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8EEF2"/>
                </a:solidFill>
                <a:latin typeface="Aptos"/>
                <a:ea typeface="Aptos"/>
                <a:cs typeface="Aptos"/>
              </a:rPr>
              <a:t>mixed connected/non-connected users; path-dependent node costs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55906-D47A-41DE-8C69-A3C82B53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7600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F8A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3A37A-7E0A-4DF8-9DEA-B68B7E42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2417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8A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8A83"/>
                </a:solidFill>
                <a:latin typeface="Aptos"/>
                <a:ea typeface="Aptos"/>
                <a:cs typeface="Aptos"/>
              </a:rPr>
              <a:t>Equilibrium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B603A-BA36-48C1-A55D-BBF1E83E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541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7"/>
                </a:solidFill>
                <a:latin typeface="Aptos"/>
                <a:ea typeface="Aptos"/>
                <a:cs typeface="Aptos"/>
              </a:rPr>
              <a:t>Wardrop assignment with bounded timestamp offsets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548FF-9C03-4E5B-B40D-CBABE10A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67100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08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17B20-46EF-4717-8649-9D346A79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909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B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8B32"/>
                </a:solidFill>
                <a:latin typeface="Aptos"/>
                <a:ea typeface="Aptos"/>
                <a:cs typeface="Aptos"/>
              </a:rPr>
              <a:t>Optimization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8442A-1CBF-4E94-A5EF-1CBBF67E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62350"/>
            <a:ext cx="501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7"/>
                </a:solidFill>
                <a:latin typeface="Aptos"/>
                <a:ea typeface="Aptos"/>
                <a:cs typeface="Aptos"/>
              </a:rPr>
              <a:t>warm-started Frank-Wolfe plus constrained upper-level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8BB6B-F7B9-4E53-8775-94AC93C2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33850"/>
            <a:ext cx="6686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B4E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0693D-24AE-4AD8-BAA8-B9F51847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5767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4E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4E70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D7CCD-1F57-449A-8EE8-3BFBB32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29100"/>
            <a:ext cx="461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7"/>
                </a:solidFill>
                <a:latin typeface="Aptos"/>
                <a:ea typeface="Aptos"/>
                <a:cs typeface="Aptos"/>
              </a:rPr>
              <a:t>Pigou, Braess, Sioux Falls, and one grid network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B64CE-F46E-4E80-9B5C-2599EBA1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00600"/>
            <a:ext cx="622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5E8C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485A2-339F-4A28-95BB-88AADC4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244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8C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8C5A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BA9BA-4284-4D8F-AAB1-D27CF436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95850"/>
            <a:ext cx="421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7"/>
                </a:solidFill>
                <a:latin typeface="Aptos"/>
                <a:ea typeface="Aptos"/>
                <a:cs typeface="Aptos"/>
              </a:rPr>
              <a:t>travel time, delay burden, CAV threshold, fairness-constrained PoA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DFA35-92C0-49E3-B138-4385BF7D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17145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A0F17-0B69-40EE-9D96-42609416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Baselines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17E54-259C-4ED1-AD8D-A2C6D353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FCFS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51E36-0C27-434D-8B0E-7F9D0CD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90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SPBS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8F465-BDAA-4721-A54F-336D0F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unconstrained timestamp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84843-D599-4A3E-AB9C-83091F0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62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fairness-constrained timestamp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2AC5CA-EEAC-4E1B-B80E-310E45F9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48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marginal-cost tolling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F6E51A-8129-450A-BEA4-6B339392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A6D89D-9E63-4ACC-82D0-C2D58962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sections 5 and 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A85CF8-570D-49F1-9451-7AF5AB1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9358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DE921-7846-4846-AB3C-21E226E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55608-1A11-43E6-B034-8A288DFB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62C9A071-2ECD-41F4-B1B2-CF292607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B6AE4790-D736-4412-B387-3C9D94C5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90-DAY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90BBB-1477-4493-8C03-CDB7EE0B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Move from reproduction to a conference-paper draft in four phases.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576E3-C9C9-490A-B921-3FEA1832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076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95B8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9C3B4-658F-4BCC-B943-B4FA1994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5B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95B85"/>
                </a:solidFill>
                <a:latin typeface="Aptos"/>
                <a:ea typeface="Aptos"/>
                <a:cs typeface="Aptos"/>
              </a:rPr>
              <a:t>Days 1-15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6136B-E794-4907-A82B-3D58552A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Reproduce and simplify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5D2C0-1669-4648-A678-7E9EAE6D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Pigou/Braess equations, Wardrop solver, technical memo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32D6E-C9BB-40F0-8E98-4F2A2DEE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521AF-5C5D-470B-96DB-2DEB25E6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CEC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86657-EFAE-4402-91FF-DCD062ED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2076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F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27686-08A2-4B3A-A85D-8EE7E9B5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8A83"/>
                </a:solidFill>
                <a:latin typeface="Aptos"/>
                <a:ea typeface="Aptos"/>
                <a:cs typeface="Aptos"/>
              </a:rPr>
              <a:t>Days 16-30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ABE00-103D-4AD6-8078-6DAC272F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Build Sioux Falls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7A226-0EA6-435A-8433-5602C4F6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4810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BPR links, node costs, UE/SO efficiency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7EEA8-DAE8-46D8-83A3-B646ACE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9EE34-529D-4FDA-96A0-C849DBB3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CEC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3D3D7-5535-4256-A490-00B786A2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076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D08B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8B59E-AD58-4BDF-A679-F5E79952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E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EEF2"/>
                </a:solidFill>
                <a:latin typeface="Aptos"/>
                <a:ea typeface="Aptos"/>
                <a:cs typeface="Aptos"/>
              </a:rPr>
              <a:t>Days 31-60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38677-69F3-4A4C-9AB7-D8A4D831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Add timestamp incentives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AF08D-A4FE-4B72-B17B-91AD9577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E8EE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E8EEF2"/>
                </a:solidFill>
                <a:latin typeface="Aptos"/>
                <a:ea typeface="Aptos"/>
                <a:cs typeface="Aptos"/>
              </a:rPr>
              <a:t>bounded offsets, constrained optimizer, one deep extension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3A5A9-E0A9-4F25-8DCD-ECAF297D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D88BA-ADF0-4522-8B05-481E752D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CEC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3FBFE-8C84-4966-84D7-08D41D22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2076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B4E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A878E-55AD-4549-89BD-CCDC6ED7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4E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4E70"/>
                </a:solidFill>
                <a:latin typeface="Aptos"/>
                <a:ea typeface="Aptos"/>
                <a:cs typeface="Aptos"/>
              </a:rPr>
              <a:t>Days 61-90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82084F-AE3E-4687-B703-B2FD373A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Experiments and draft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7945A-98C8-446A-A2B9-6C7029E5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sensitivity plots, propositions, 6-8 page conference version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11709-D280-4F9A-BECD-811F09E0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05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8F0BFE-D065-462D-A3E7-FC8BF6C4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38750"/>
            <a:ext cx="674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Recommended first extension: fairness constraints under mixed autonomy.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F31D8B-218C-4840-B73A-C92AD9D9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0C238-B36A-4E08-B40B-E5DB1F35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 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F9951D-9FE6-4FB6-8ED8-1F04609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3960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29025-2549-4802-9A84-D8F9FE4E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BAA17-972C-43EB-9751-E0358F21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5C4DD7F9-2D6F-4F02-8582-224DA7AD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A0957B73-A810-4029-8154-A3F8651A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7D"/>
                </a:solidFill>
                <a:latin typeface="Aptos"/>
                <a:ea typeface="Aptos"/>
                <a:cs typeface="Aptos"/>
              </a:rPr>
              <a:t>THESIS-LEVEL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191FF-3EEB-45C0-9C34-8A017E2D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The roadmap compounds from fairness to dynamic, private, and scalable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2C8EE-0AD7-49B4-8D56-E60E611A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8A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8A83"/>
                </a:solidFill>
                <a:latin typeface="Aptos"/>
                <a:ea typeface="Aptos"/>
                <a:cs typeface="Aptos"/>
              </a:rPr>
              <a:t>Paper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B57A8-DA13-47D2-9EF7-CDCB99A0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860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C77BB-4971-4B74-BBDE-6FD3CCC0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336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Fair mixed-autonomy timestamp incentives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6874-935E-453C-8BDE-9ED0C780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95B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95B85"/>
                </a:solidFill>
                <a:latin typeface="Aptos"/>
                <a:ea typeface="Aptos"/>
                <a:cs typeface="Aptos"/>
              </a:rPr>
              <a:t>Paper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5AC38-83CD-444A-BEA4-8906F248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384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7E294-808E-4F50-99C3-0668855A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Dynamic online timestamp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89311-EF5F-4CE9-A16A-478F1568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4E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4E70"/>
                </a:solidFill>
                <a:latin typeface="Aptos"/>
                <a:ea typeface="Aptos"/>
                <a:cs typeface="Aptos"/>
              </a:rPr>
              <a:t>Paper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89BB0-A4C1-46C4-BFE7-1A624B3F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909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E6DE6-5BB3-4DE5-9463-32A2C277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Privacy and strategic reporting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A983C-A09A-49F2-B971-5528E737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B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08B32"/>
                </a:solidFill>
                <a:latin typeface="Aptos"/>
                <a:ea typeface="Aptos"/>
                <a:cs typeface="Aptos"/>
              </a:rPr>
              <a:t>Paper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D77A8-667F-47A5-9041-6A7832B6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433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B7DFB-5FDA-4580-8318-91E5E5B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90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Spillback-aware theory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C8B17-740C-4235-97BF-D6712390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8C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8C5A"/>
                </a:solidFill>
                <a:latin typeface="Aptos"/>
                <a:ea typeface="Aptos"/>
                <a:cs typeface="Aptos"/>
              </a:rPr>
              <a:t>Paper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CAE23-B590-4880-8FB4-6EA78CB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958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8F231-F93E-4384-A08A-AE3DDE27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7"/>
                </a:solidFill>
                <a:latin typeface="Aptos Display"/>
                <a:ea typeface="Aptos Display"/>
                <a:cs typeface="Aptos Display"/>
              </a:rPr>
              <a:t>Scalable bilevel algorithms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F7736-74A6-4F84-AD41-7823AC1B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2705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FDE3F-4074-4430-9634-C7F3BE10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8B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08B32"/>
                </a:solidFill>
                <a:latin typeface="Aptos"/>
                <a:ea typeface="Aptos"/>
                <a:cs typeface="Aptos"/>
              </a:rPr>
              <a:t>Final takeaway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418C8-31DB-4BCA-95BA-B35B818C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opportunity is not only to improve the Sioux Falls result. It is to make intersection scheduling credible as a real incentive mechanism for heterogeneous urban networks.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412D3-6D6C-466A-BFC1-EE6F5ACD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E708B-E737-43E1-8C29-7E55950E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7350"/>
            <a:ext cx="594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7"/>
                </a:solidFill>
                <a:latin typeface="Aptos"/>
                <a:ea typeface="Aptos"/>
                <a:cs typeface="Aptos"/>
              </a:rPr>
              <a:t>Intersection scheduling can be used as an incentive mechanism.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61EA5-8301-4C09-93F9-960D1967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36DA5-324D-4389-A046-4130C52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809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817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B8176"/>
                </a:solidFill>
                <a:latin typeface="Aptos"/>
                <a:ea typeface="Aptos"/>
                <a:cs typeface="Aptos"/>
              </a:rPr>
              <a:t>Source: ResearchPlan.md, sections 11-12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D3A00-2ED1-4FC3-BEC0-0E1ACD7D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B8176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6409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2026-05-25T10:34:23.7300000Z</dcterms:created>
  <dcterms:modified xsi:type="dcterms:W3CDTF">2026-05-25T10:34:23.7300000Z</dcterms:modified>
</coreProperties>
</file>